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iRTH8bR+9PNL5h+gvkzjFTmM4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07aef932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e07aef93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07aef932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e07aef932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7aef9325_0_1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u-RU"/>
              <a:t>Оптимизация B2B-поддержки</a:t>
            </a:r>
            <a:endParaRPr/>
          </a:p>
        </p:txBody>
      </p:sp>
      <p:sp>
        <p:nvSpPr>
          <p:cNvPr id="85" name="Google Shape;85;g3e07aef9325_0_1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ru-RU"/>
              <a:t>Кейс по снижению нагрузки на поддержку через UX-решения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7aef9325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Лишние вопросы стоят денег</a:t>
            </a:r>
            <a:endParaRPr/>
          </a:p>
        </p:txBody>
      </p:sp>
      <p:sp>
        <p:nvSpPr>
          <p:cNvPr id="91" name="Google Shape;91;g3e07aef9325_0_16"/>
          <p:cNvSpPr txBox="1"/>
          <p:nvPr>
            <p:ph idx="1" type="body"/>
          </p:nvPr>
        </p:nvSpPr>
        <p:spPr>
          <a:xfrm>
            <a:off x="835567" y="148467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Юридические лица не могут оплатить заказы с “Баланса средств”, но не знают об этом </a:t>
            </a:r>
            <a:r>
              <a:rPr lang="ru-RU" sz="24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ru-RU"/>
              <a:t>поддержка работает как FAQ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92" name="Google Shape;92;g3e07aef932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999" y="5459895"/>
            <a:ext cx="4219575" cy="5429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93" name="Google Shape;93;g3e07aef9325_0_16"/>
          <p:cNvSpPr/>
          <p:nvPr/>
        </p:nvSpPr>
        <p:spPr>
          <a:xfrm>
            <a:off x="1616269" y="2995565"/>
            <a:ext cx="35262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Примеры обращений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g3e07aef9325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792510"/>
            <a:ext cx="4210050" cy="9334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95" name="Google Shape;95;g3e07aef9325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5352110"/>
            <a:ext cx="4219575" cy="7239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96" name="Google Shape;96;g3e07aef9325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5999" y="3782985"/>
            <a:ext cx="4219575" cy="94297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title"/>
          </p:nvPr>
        </p:nvSpPr>
        <p:spPr>
          <a:xfrm>
            <a:off x="838200" y="189000"/>
            <a:ext cx="1119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55% обращений – это поиск информации</a:t>
            </a:r>
            <a:endParaRPr/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834682" y="1514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Проанализировано более </a:t>
            </a:r>
            <a:r>
              <a:rPr b="1" lang="ru-RU"/>
              <a:t>1600 </a:t>
            </a:r>
            <a:r>
              <a:rPr lang="ru-RU"/>
              <a:t>обращений за март 2026. По балансу средств – </a:t>
            </a:r>
            <a:r>
              <a:rPr b="1" lang="ru-RU"/>
              <a:t>30</a:t>
            </a:r>
            <a:r>
              <a:rPr lang="ru-RU"/>
              <a:t> обращений. При этом: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 </a:t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22" y="2760797"/>
            <a:ext cx="6028325" cy="391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6500" y="2829925"/>
            <a:ext cx="5013775" cy="378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838200" y="189000"/>
            <a:ext cx="1119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Контекстное информирование</a:t>
            </a:r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00" y="2776719"/>
            <a:ext cx="5373477" cy="32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000" y="2773416"/>
            <a:ext cx="5373474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4682" y="1514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ru-RU"/>
              <a:t>Внедрение контекстной подсказки позволяет снизить нагрузку на поддержку по данной теме на ~45% </a:t>
            </a:r>
            <a:endParaRPr/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6000" y="4532190"/>
            <a:ext cx="2092792" cy="20029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"/>
          <p:cNvCxnSpPr/>
          <p:nvPr/>
        </p:nvCxnSpPr>
        <p:spPr>
          <a:xfrm>
            <a:off x="8796000" y="4149000"/>
            <a:ext cx="1080000" cy="54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4668975" y="2166075"/>
            <a:ext cx="6840000" cy="126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>
            <p:ph type="title"/>
          </p:nvPr>
        </p:nvSpPr>
        <p:spPr>
          <a:xfrm>
            <a:off x="838200" y="189000"/>
            <a:ext cx="1119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Ожидаемый эффект и развитие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736001" y="2349000"/>
            <a:ext cx="5580000" cy="8970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1200+ часов/год</a:t>
            </a:r>
            <a:b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Высвобождение ресурса 1-й линии поддержки за </a:t>
            </a:r>
            <a:r>
              <a:rPr lang="ru-RU" sz="1200">
                <a:solidFill>
                  <a:schemeClr val="dk1"/>
                </a:solidFill>
              </a:rPr>
              <a:t>счет</a:t>
            </a: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автоматизации селф-сервиса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76000" y="1989000"/>
            <a:ext cx="3420000" cy="522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6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1,2 млн </a:t>
            </a:r>
            <a:br>
              <a:rPr b="0" i="0" lang="ru-RU" sz="6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ru-RU" sz="6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₽</a:t>
            </a:r>
            <a:br>
              <a:rPr b="0" i="0" lang="ru-RU" sz="7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0" i="0" lang="ru-RU" sz="1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СОВОКУПНАЯ ГОДОВАЯ ВЫГОДА</a:t>
            </a: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ru-RU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Интегральный показатель ROI проекта </a:t>
            </a:r>
            <a:b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(ФОТ + LTV + ретеншн)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689975" y="3609000"/>
            <a:ext cx="6840000" cy="126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674375" y="5050950"/>
            <a:ext cx="6840000" cy="126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4271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6000" y="2346075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6000" y="3789000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6000" y="5231925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5803426" y="3806325"/>
            <a:ext cx="5580000" cy="8970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92% селф-сервиса</a:t>
            </a:r>
            <a:b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Доля пользователей, решающих вопрос с оплатой без обращения в поддержку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803426" y="5230950"/>
            <a:ext cx="5580000" cy="8970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+12 п.п. NPS сегмента</a:t>
            </a:r>
            <a:b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Снижение когнитивного диссонанса и рост лояльности B2B-клиентов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2026-04-11T09:42:52Z</dcterms:created>
  <dc:creator>User</dc:creator>
</cp:coreProperties>
</file>