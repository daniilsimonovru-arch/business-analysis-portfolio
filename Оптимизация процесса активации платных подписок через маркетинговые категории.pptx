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L7hL0L2zUpF1Kcox8sxvqCTqC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 sz="4400"/>
              <a:t>Оптимизация процесса активации платных подписок через маркетинговые категории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«Я ничего не подключал. Верните деньги»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5567" y="148467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При выборе категории кэшбэка с подпиской – она подключается автоматически. Через время списываются деньги за продление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 </a:t>
            </a:r>
            <a:endParaRPr/>
          </a:p>
        </p:txBody>
      </p:sp>
      <p:grpSp>
        <p:nvGrpSpPr>
          <p:cNvPr id="91" name="Google Shape;91;p2"/>
          <p:cNvGrpSpPr/>
          <p:nvPr/>
        </p:nvGrpSpPr>
        <p:grpSpPr>
          <a:xfrm>
            <a:off x="2267512" y="2731903"/>
            <a:ext cx="3134818" cy="3954412"/>
            <a:chOff x="4741098" y="2689933"/>
            <a:chExt cx="3118676" cy="3861035"/>
          </a:xfrm>
        </p:grpSpPr>
        <p:pic>
          <p:nvPicPr>
            <p:cNvPr id="92" name="Google Shape;92;p2"/>
            <p:cNvPicPr preferRelativeResize="0"/>
            <p:nvPr/>
          </p:nvPicPr>
          <p:blipFill rotWithShape="1">
            <a:blip r:embed="rId3">
              <a:alphaModFix/>
            </a:blip>
            <a:srcRect b="12417" l="65062" r="913" t="1210"/>
            <a:stretch/>
          </p:blipFill>
          <p:spPr>
            <a:xfrm>
              <a:off x="4741098" y="2689933"/>
              <a:ext cx="2462751" cy="386103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" name="Google Shape;93;p2"/>
            <p:cNvCxnSpPr/>
            <p:nvPr/>
          </p:nvCxnSpPr>
          <p:spPr>
            <a:xfrm rot="10800000">
              <a:off x="6693761" y="4714042"/>
              <a:ext cx="843380" cy="825624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4" name="Google Shape;94;p2"/>
            <p:cNvSpPr/>
            <p:nvPr/>
          </p:nvSpPr>
          <p:spPr>
            <a:xfrm rot="2732326">
              <a:off x="6577698" y="4982293"/>
              <a:ext cx="1398140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ru-RU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описание категории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5850384" y="3582058"/>
            <a:ext cx="4918230" cy="206849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367" y="3806240"/>
            <a:ext cx="376765" cy="37676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6396132" y="3979105"/>
            <a:ext cx="4283705" cy="14275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согласие на подключение подписки происходит автоматически в момент выбора категории. Юридическая информация скрыта за иконкой «?»</a:t>
            </a: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Анализ и поиск недостатков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678095" y="1979721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678096" y="3648723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678097" y="5317725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487" y="2117588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3956880" y="2117588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Когнитивная нагрузка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дизайн интерфейса провоцирует «туннельное зрение» — пользователь сфокусирован только на выгоде (кэшбэке) и игнорирует вторичные знаки (иконка «?»)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956878" y="3853095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Бизнес-риски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репутационные потери, высокая стоимость обработки одного тикета в поддержке, риск судебных претензий по закону о защите прав потребителей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905091" y="5455592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Системное ограничение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дарк паттерн в интерфейсе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7487" y="3898792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7487" y="5455592"/>
            <a:ext cx="90000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Подтверждение выбора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835567" y="148467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Внедрение дополнительного подтверждающего окна при выборе категории с подпиской</a:t>
            </a:r>
            <a:endParaRPr/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4166" y="3263763"/>
            <a:ext cx="5191850" cy="257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981" y="2520646"/>
            <a:ext cx="4753638" cy="3905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Ожидаемый бизнес-эффект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678095" y="1979721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678096" y="3648723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678097" y="5317725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956880" y="2117588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нагрузки на поддержку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прогноз сокращения обращений по теме «несанкционированных списаний» на </a:t>
            </a:r>
            <a: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40-60%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956878" y="4040407"/>
            <a:ext cx="5419417" cy="6871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+10 п.п. NPS сегмента</a:t>
            </a:r>
            <a:b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рост доли лояльных и осознанных подписчиков, которые не отключат сервис сразу после первого списания.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05089" y="5415906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Прозрачность</a:t>
            </a:r>
            <a:b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соответствие стандартам открытого и честного банкинга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487" y="378659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7487" y="2117588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9631" y="5455592"/>
            <a:ext cx="90000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2026-04-11T09:42:52Z</dcterms:created>
  <dc:creator>User</dc:creator>
</cp:coreProperties>
</file>